
<file path=[Content_Types].xml><?xml version="1.0" encoding="utf-8"?>
<Types xmlns="http://schemas.openxmlformats.org/package/2006/content-types">
  <Default ContentType="image/vnd.ms-photo" Extension="wdp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0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10287000" cx="18288000"/>
  <p:notesSz cx="6858000" cy="9144000"/>
  <p:custDataLst>
    <p:tags r:id="rId15"/>
  </p:custDataLst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tags" Target="tags/tag1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1701881">
            <a:off x="15409524" y="7040436"/>
            <a:ext cx="1752722" cy="2984512"/>
          </a:xfrm>
          <a:custGeom>
            <a:avLst/>
            <a:gdLst/>
            <a:ahLst/>
            <a:cxnLst/>
            <a:rect l="l" t="t" r="r" b="b"/>
            <a:pathLst>
              <a:path w="1752722" h="2984512">
                <a:moveTo>
                  <a:pt x="0" y="0"/>
                </a:moveTo>
                <a:lnTo>
                  <a:pt x="1752722" y="0"/>
                </a:lnTo>
                <a:lnTo>
                  <a:pt x="1752722" y="2984511"/>
                </a:lnTo>
                <a:lnTo>
                  <a:pt x="0" y="29845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152279" y="3698050"/>
            <a:ext cx="11983442" cy="2852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92"/>
              </a:lnSpc>
            </a:pPr>
            <a:r>
              <a:rPr lang="en-US" sz="7200" u="sng" dirty="0">
                <a:solidFill>
                  <a:schemeClr val="accent3">
                    <a:lumMod val="60000"/>
                    <a:lumOff val="40000"/>
                  </a:schemeClr>
                </a:solidFill>
                <a:latin typeface="Retropix"/>
                <a:ea typeface="Retropix"/>
                <a:cs typeface="Retropix"/>
                <a:sym typeface="Retropix"/>
              </a:rPr>
              <a:t>DIGITAL LITERACY BASICS FOR FIRST-TIME INTERNET USERS FROM SMALL TOWNS</a:t>
            </a:r>
          </a:p>
        </p:txBody>
      </p:sp>
      <p:sp>
        <p:nvSpPr>
          <p:cNvPr id="11" name="Freeform 11"/>
          <p:cNvSpPr/>
          <p:nvPr/>
        </p:nvSpPr>
        <p:spPr>
          <a:xfrm>
            <a:off x="306687" y="712407"/>
            <a:ext cx="3304177" cy="2598479"/>
          </a:xfrm>
          <a:custGeom>
            <a:avLst/>
            <a:gdLst/>
            <a:ahLst/>
            <a:cxnLst/>
            <a:rect l="l" t="t" r="r" b="b"/>
            <a:pathLst>
              <a:path w="3319587" h="2540993">
                <a:moveTo>
                  <a:pt x="0" y="0"/>
                </a:moveTo>
                <a:lnTo>
                  <a:pt x="3319587" y="0"/>
                </a:lnTo>
                <a:lnTo>
                  <a:pt x="3319587" y="2540993"/>
                </a:lnTo>
                <a:lnTo>
                  <a:pt x="0" y="25409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6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270546" y="694992"/>
            <a:ext cx="2489634" cy="2408155"/>
          </a:xfrm>
          <a:custGeom>
            <a:avLst/>
            <a:gdLst/>
            <a:ahLst/>
            <a:cxnLst/>
            <a:rect l="l" t="t" r="r" b="b"/>
            <a:pathLst>
              <a:path w="2489634" h="2408155">
                <a:moveTo>
                  <a:pt x="0" y="0"/>
                </a:moveTo>
                <a:lnTo>
                  <a:pt x="2489634" y="0"/>
                </a:lnTo>
                <a:lnTo>
                  <a:pt x="2489634" y="2408155"/>
                </a:lnTo>
                <a:lnTo>
                  <a:pt x="0" y="240815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21369725">
            <a:off x="1480565" y="7445351"/>
            <a:ext cx="2493214" cy="2493214"/>
          </a:xfrm>
          <a:custGeom>
            <a:avLst/>
            <a:gdLst/>
            <a:ahLst/>
            <a:cxnLst/>
            <a:rect l="l" t="t" r="r" b="b"/>
            <a:pathLst>
              <a:path w="2493214" h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aturation sat="139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803892">
            <a:off x="1213655" y="1116936"/>
            <a:ext cx="3278922" cy="3183535"/>
          </a:xfrm>
          <a:custGeom>
            <a:avLst/>
            <a:gdLst/>
            <a:ahLst/>
            <a:cxnLst/>
            <a:rect l="l" t="t" r="r" b="b"/>
            <a:pathLst>
              <a:path w="3278922" h="3183535">
                <a:moveTo>
                  <a:pt x="0" y="0"/>
                </a:moveTo>
                <a:lnTo>
                  <a:pt x="3278922" y="0"/>
                </a:lnTo>
                <a:lnTo>
                  <a:pt x="3278922" y="3183535"/>
                </a:lnTo>
                <a:lnTo>
                  <a:pt x="0" y="31835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biLevel thresh="25000"/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53068" y="6900396"/>
            <a:ext cx="2935223" cy="2935223"/>
          </a:xfrm>
          <a:custGeom>
            <a:avLst/>
            <a:gdLst/>
            <a:ahLst/>
            <a:cxnLst/>
            <a:rect l="l" t="t" r="r" b="b"/>
            <a:pathLst>
              <a:path w="2935223" h="2935223">
                <a:moveTo>
                  <a:pt x="0" y="0"/>
                </a:moveTo>
                <a:lnTo>
                  <a:pt x="2935223" y="0"/>
                </a:lnTo>
                <a:lnTo>
                  <a:pt x="2935223" y="2935223"/>
                </a:lnTo>
                <a:lnTo>
                  <a:pt x="0" y="2935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biLevel thresh="75000"/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83245" y="1668584"/>
            <a:ext cx="9521511" cy="2103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 b="1" u="sng" dirty="0">
                <a:solidFill>
                  <a:schemeClr val="accent2">
                    <a:lumMod val="75000"/>
                  </a:schemeClr>
                </a:solidFill>
                <a:latin typeface="Retropix"/>
                <a:ea typeface="Retropix"/>
                <a:cs typeface="Retropix"/>
                <a:sym typeface="Retropix"/>
              </a:rPr>
              <a:t>WHAT DIGITAL LITERACY 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096401" y="4139090"/>
            <a:ext cx="12095198" cy="4367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2"/>
              </a:lnSpc>
            </a:pPr>
            <a:r>
              <a:rPr lang="en-US" sz="3706" dirty="0">
                <a:solidFill>
                  <a:schemeClr val="tx1">
                    <a:lumMod val="75000"/>
                    <a:lumOff val="2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Digital literacy is the ability to use digital devices, the internet, and online tools safely, effectively, and responsibly. It is not just about knowing how to use a mobile phone or computer, but also about understanding how to find information, communicate properly, protect personal data, and behave responsibly online</a:t>
            </a:r>
            <a:r>
              <a:rPr lang="en-US" sz="3706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ctr">
              <a:lnSpc>
                <a:spcPts val="4892"/>
              </a:lnSpc>
            </a:pPr>
            <a:endParaRPr lang="en-US" sz="3706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endParaRPr lang="en-IN" dirty="0"/>
          </a:p>
        </p:txBody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6715702" y="481788"/>
            <a:ext cx="2783403" cy="2783403"/>
          </a:xfrm>
          <a:custGeom>
            <a:avLst/>
            <a:gdLst/>
            <a:ahLst/>
            <a:cxnLst/>
            <a:rect l="l" t="t" r="r" b="b"/>
            <a:pathLst>
              <a:path w="2783403" h="2783403">
                <a:moveTo>
                  <a:pt x="0" y="0"/>
                </a:moveTo>
                <a:lnTo>
                  <a:pt x="2783403" y="0"/>
                </a:lnTo>
                <a:lnTo>
                  <a:pt x="2783403" y="2783403"/>
                </a:lnTo>
                <a:lnTo>
                  <a:pt x="0" y="27834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72728" y="7865064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8324110" y="3050017"/>
            <a:ext cx="7527067" cy="4501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2"/>
              </a:lnSpc>
            </a:pPr>
            <a:endParaRPr/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digital tools like smartphones, computers, email, and online platforms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Search, evaluate, and use information from the internet correctly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Communicate professionally through emails and online platforms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Protect themselves from online threats such as scams, frauds, and cybercrime</a:t>
            </a:r>
          </a:p>
          <a:p>
            <a:pPr marL="535189" lvl="1" indent="-267595" algn="ctr">
              <a:lnSpc>
                <a:spcPts val="3272"/>
              </a:lnSpc>
              <a:buFont typeface="Arial"/>
              <a:buChar char="•"/>
            </a:pPr>
            <a:r>
              <a:rPr lang="en-US" sz="2478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Maintain a positive and professional online presence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59340" y="3391510"/>
            <a:ext cx="4748412" cy="442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4"/>
              </a:lnSpc>
            </a:pPr>
            <a:r>
              <a:rPr lang="en-US" sz="6372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A DIGITALLY LITERATE PERSON KNOWS HOW TO: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5580201" y="475392"/>
            <a:ext cx="7284552" cy="2013468"/>
            <a:chOff x="0" y="0"/>
            <a:chExt cx="2443846" cy="6754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66800" y="272564"/>
            <a:ext cx="7342442" cy="2016940"/>
            <a:chOff x="0" y="0"/>
            <a:chExt cx="2463267" cy="6766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733422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</p:sp>
      <p:sp>
        <p:nvSpPr>
          <p:cNvPr id="12" name="TextBox 12"/>
          <p:cNvSpPr txBox="1"/>
          <p:nvPr/>
        </p:nvSpPr>
        <p:spPr>
          <a:xfrm>
            <a:off x="5637192" y="501814"/>
            <a:ext cx="7072049" cy="177176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4"/>
              </a:lnSpc>
            </a:pPr>
            <a:r>
              <a:rPr lang="en-US" sz="2617" b="1" u="sng" dirty="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USEFUL DIGITAL TOOLS FOR STUDENTS:</a:t>
            </a:r>
          </a:p>
          <a:p>
            <a:pPr algn="l">
              <a:lnSpc>
                <a:spcPts val="3454"/>
              </a:lnSpc>
            </a:pPr>
            <a:r>
              <a:rPr lang="en-US" sz="2617" b="1" u="sng" dirty="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HELPFUL FOR FIRST-TIME INTERNET USERS FROM SMALL TOWNS </a:t>
            </a:r>
          </a:p>
          <a:p>
            <a:pPr algn="l">
              <a:lnSpc>
                <a:spcPts val="3454"/>
              </a:lnSpc>
            </a:pPr>
            <a:endParaRPr lang="en-US" sz="2617" dirty="0">
              <a:solidFill>
                <a:srgbClr val="FFFFFF"/>
              </a:solidFill>
              <a:latin typeface="Retropix"/>
              <a:ea typeface="Retropix"/>
              <a:cs typeface="Retropix"/>
              <a:sym typeface="Retropix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908141" y="5224490"/>
            <a:ext cx="198412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GOOGLE</a:t>
            </a:r>
          </a:p>
        </p:txBody>
      </p:sp>
      <p:sp>
        <p:nvSpPr>
          <p:cNvPr id="14" name="Freeform 14"/>
          <p:cNvSpPr/>
          <p:nvPr/>
        </p:nvSpPr>
        <p:spPr>
          <a:xfrm>
            <a:off x="733422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sp>
      <p:grpSp>
        <p:nvGrpSpPr>
          <p:cNvPr id="15" name="Group 15"/>
          <p:cNvGrpSpPr/>
          <p:nvPr/>
        </p:nvGrpSpPr>
        <p:grpSpPr>
          <a:xfrm>
            <a:off x="733422" y="3173471"/>
            <a:ext cx="5373101" cy="1485139"/>
            <a:chOff x="0" y="0"/>
            <a:chExt cx="2443846" cy="67548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76017" y="3023864"/>
            <a:ext cx="5415801" cy="1487699"/>
            <a:chOff x="0" y="0"/>
            <a:chExt cx="2463267" cy="67665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614630" y="3173471"/>
            <a:ext cx="5373101" cy="1485139"/>
            <a:chOff x="0" y="0"/>
            <a:chExt cx="2443846" cy="67548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457224" y="3023864"/>
            <a:ext cx="5415801" cy="1487699"/>
            <a:chOff x="0" y="0"/>
            <a:chExt cx="2463267" cy="6766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97561" y="3173471"/>
            <a:ext cx="5373101" cy="1485139"/>
            <a:chOff x="0" y="0"/>
            <a:chExt cx="2443846" cy="67548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443846" cy="675485"/>
            </a:xfrm>
            <a:custGeom>
              <a:avLst/>
              <a:gdLst/>
              <a:ahLst/>
              <a:cxnLst/>
              <a:rect l="l" t="t" r="r" b="b"/>
              <a:pathLst>
                <a:path w="2443846" h="675485">
                  <a:moveTo>
                    <a:pt x="0" y="0"/>
                  </a:moveTo>
                  <a:lnTo>
                    <a:pt x="2443846" y="0"/>
                  </a:lnTo>
                  <a:lnTo>
                    <a:pt x="2443846" y="675485"/>
                  </a:lnTo>
                  <a:lnTo>
                    <a:pt x="0" y="67548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443846" cy="71358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40155" y="3023864"/>
            <a:ext cx="5415801" cy="1487699"/>
            <a:chOff x="0" y="0"/>
            <a:chExt cx="2463267" cy="67665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463267" cy="676650"/>
            </a:xfrm>
            <a:custGeom>
              <a:avLst/>
              <a:gdLst/>
              <a:ahLst/>
              <a:cxnLst/>
              <a:rect l="l" t="t" r="r" b="b"/>
              <a:pathLst>
                <a:path w="2463267" h="676650">
                  <a:moveTo>
                    <a:pt x="0" y="0"/>
                  </a:moveTo>
                  <a:lnTo>
                    <a:pt x="2463267" y="0"/>
                  </a:lnTo>
                  <a:lnTo>
                    <a:pt x="2463267" y="676650"/>
                  </a:lnTo>
                  <a:lnTo>
                    <a:pt x="0" y="676650"/>
                  </a:lnTo>
                  <a:close/>
                </a:path>
              </a:pathLst>
            </a:custGeom>
            <a:solidFill>
              <a:srgbClr val="5E38D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463267" cy="7147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Freeform 33"/>
          <p:cNvSpPr/>
          <p:nvPr/>
        </p:nvSpPr>
        <p:spPr>
          <a:xfrm>
            <a:off x="6614630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099" y="0"/>
                </a:lnTo>
                <a:lnTo>
                  <a:pt x="4338099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sp>
      <p:sp>
        <p:nvSpPr>
          <p:cNvPr id="34" name="Freeform 34"/>
          <p:cNvSpPr/>
          <p:nvPr/>
        </p:nvSpPr>
        <p:spPr>
          <a:xfrm>
            <a:off x="6614630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099" y="0"/>
                </a:lnTo>
                <a:lnTo>
                  <a:pt x="4338099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</p:sp>
      <p:sp>
        <p:nvSpPr>
          <p:cNvPr id="35" name="Freeform 35"/>
          <p:cNvSpPr/>
          <p:nvPr/>
        </p:nvSpPr>
        <p:spPr>
          <a:xfrm>
            <a:off x="12495837" y="5096528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</p:sp>
      <p:sp>
        <p:nvSpPr>
          <p:cNvPr id="36" name="Freeform 36"/>
          <p:cNvSpPr/>
          <p:nvPr/>
        </p:nvSpPr>
        <p:spPr>
          <a:xfrm>
            <a:off x="12495837" y="6912064"/>
            <a:ext cx="4338100" cy="1162954"/>
          </a:xfrm>
          <a:custGeom>
            <a:avLst/>
            <a:gdLst/>
            <a:ahLst/>
            <a:cxnLst/>
            <a:rect l="l" t="t" r="r" b="b"/>
            <a:pathLst>
              <a:path w="4338100" h="1162954">
                <a:moveTo>
                  <a:pt x="0" y="0"/>
                </a:moveTo>
                <a:lnTo>
                  <a:pt x="4338100" y="0"/>
                </a:lnTo>
                <a:lnTo>
                  <a:pt x="4338100" y="1162954"/>
                </a:lnTo>
                <a:lnTo>
                  <a:pt x="0" y="1162954"/>
                </a:lnTo>
                <a:lnTo>
                  <a:pt x="0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</p:sp>
      <p:sp>
        <p:nvSpPr>
          <p:cNvPr id="37" name="TextBox 37"/>
          <p:cNvSpPr txBox="1"/>
          <p:nvPr/>
        </p:nvSpPr>
        <p:spPr>
          <a:xfrm>
            <a:off x="816361" y="3361250"/>
            <a:ext cx="4935112" cy="554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Search &amp; Information Tools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833624" y="3113554"/>
            <a:ext cx="4935112" cy="105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Communication &amp; Collaboration Tools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80500" y="3190235"/>
            <a:ext cx="4935112" cy="1050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0"/>
              </a:lnSpc>
            </a:pPr>
            <a:r>
              <a:rPr lang="en-US" sz="2977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Learning &amp; Skill-Building Tools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14226" y="7055763"/>
            <a:ext cx="2171957" cy="742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8"/>
              </a:lnSpc>
            </a:pPr>
            <a:r>
              <a:rPr lang="en-US" sz="3999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Wikipedia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61108" y="5211059"/>
            <a:ext cx="1421424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Gmail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0348" y="7177867"/>
            <a:ext cx="3912381" cy="536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2"/>
              </a:lnSpc>
            </a:pPr>
            <a:r>
              <a:rPr lang="en-US" sz="289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Instagram/Whatsaap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3676879" y="5211059"/>
            <a:ext cx="233586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YouTube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3266284" y="7055763"/>
            <a:ext cx="3157057" cy="77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51"/>
              </a:lnSpc>
            </a:pPr>
            <a:r>
              <a:rPr lang="en-US" sz="4205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HackerRank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028700" y="1028700"/>
            <a:ext cx="2493214" cy="2493214"/>
          </a:xfrm>
          <a:custGeom>
            <a:avLst/>
            <a:gdLst/>
            <a:ahLst/>
            <a:cxnLst/>
            <a:rect l="l" t="t" r="r" b="b"/>
            <a:pathLst>
              <a:path w="2493214" h="2493214">
                <a:moveTo>
                  <a:pt x="0" y="0"/>
                </a:moveTo>
                <a:lnTo>
                  <a:pt x="2493214" y="0"/>
                </a:lnTo>
                <a:lnTo>
                  <a:pt x="2493214" y="2493214"/>
                </a:lnTo>
                <a:lnTo>
                  <a:pt x="0" y="24932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34354" y="6390107"/>
            <a:ext cx="2724946" cy="2724946"/>
          </a:xfrm>
          <a:custGeom>
            <a:avLst/>
            <a:gdLst/>
            <a:ahLst/>
            <a:cxnLst/>
            <a:rect l="l" t="t" r="r" b="b"/>
            <a:pathLst>
              <a:path w="2724946" h="2724946">
                <a:moveTo>
                  <a:pt x="0" y="0"/>
                </a:moveTo>
                <a:lnTo>
                  <a:pt x="2724946" y="0"/>
                </a:lnTo>
                <a:lnTo>
                  <a:pt x="2724946" y="2724946"/>
                </a:lnTo>
                <a:lnTo>
                  <a:pt x="0" y="27249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383245" y="2468247"/>
            <a:ext cx="9521511" cy="2259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15"/>
              </a:lnSpc>
            </a:pPr>
            <a:r>
              <a:rPr lang="en-US" sz="7750">
                <a:solidFill>
                  <a:srgbClr val="FFFFFF"/>
                </a:solidFill>
                <a:latin typeface="Retropix"/>
                <a:ea typeface="Retropix"/>
                <a:cs typeface="Retropix"/>
                <a:sym typeface="Retropix"/>
              </a:rPr>
              <a:t>SAFE INTERNET PRACTICES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60314" y="5105400"/>
            <a:ext cx="10367373" cy="26175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3"/>
              </a:lnSpc>
            </a:pPr>
            <a:r>
              <a:rPr lang="en-US" sz="31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Safe internet practices are the rules and habits that help users stay secure, private, and protected while using the internet. These practices are especially important for first-time internet users to avoid scams, data theft, and misuse of personal information.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3" y="-5355079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8652819" y="2188050"/>
            <a:ext cx="7695104" cy="6883432"/>
            <a:chOff x="0" y="0"/>
            <a:chExt cx="2026694" cy="18129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8324110" y="1873489"/>
            <a:ext cx="7695104" cy="6883432"/>
            <a:chOff x="0" y="0"/>
            <a:chExt cx="2026694" cy="18129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6694" cy="1812920"/>
            </a:xfrm>
            <a:custGeom>
              <a:avLst/>
              <a:gdLst/>
              <a:ahLst/>
              <a:cxnLst/>
              <a:rect l="l" t="t" r="r" b="b"/>
              <a:pathLst>
                <a:path w="2026694" h="1812920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6694" cy="1851020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 rot="-10800000">
            <a:off x="16590762" y="7631269"/>
            <a:ext cx="3394476" cy="1857704"/>
          </a:xfrm>
          <a:custGeom>
            <a:avLst/>
            <a:gdLst/>
            <a:ahLst/>
            <a:cxnLst/>
            <a:rect l="l" t="t" r="r" b="b"/>
            <a:pathLst>
              <a:path w="3394476" h="1857704">
                <a:moveTo>
                  <a:pt x="0" y="0"/>
                </a:moveTo>
                <a:lnTo>
                  <a:pt x="3394476" y="0"/>
                </a:lnTo>
                <a:lnTo>
                  <a:pt x="3394476" y="1857703"/>
                </a:lnTo>
                <a:lnTo>
                  <a:pt x="0" y="18577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0" y="7734975"/>
            <a:ext cx="2946941" cy="3046650"/>
          </a:xfrm>
          <a:custGeom>
            <a:avLst/>
            <a:gdLst/>
            <a:ahLst/>
            <a:cxnLst/>
            <a:rect l="l" t="t" r="r" b="b"/>
            <a:pathLst>
              <a:path w="2946941" h="3046650">
                <a:moveTo>
                  <a:pt x="0" y="0"/>
                </a:moveTo>
                <a:lnTo>
                  <a:pt x="2946941" y="0"/>
                </a:lnTo>
                <a:lnTo>
                  <a:pt x="2946941" y="3046650"/>
                </a:lnTo>
                <a:lnTo>
                  <a:pt x="0" y="30466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652621" y="1028700"/>
            <a:ext cx="3342979" cy="2048334"/>
          </a:xfrm>
          <a:custGeom>
            <a:avLst/>
            <a:gdLst/>
            <a:ahLst/>
            <a:cxnLst/>
            <a:rect l="l" t="t" r="r" b="b"/>
            <a:pathLst>
              <a:path w="3342979" h="2048334">
                <a:moveTo>
                  <a:pt x="0" y="0"/>
                </a:moveTo>
                <a:lnTo>
                  <a:pt x="3342978" y="0"/>
                </a:lnTo>
                <a:lnTo>
                  <a:pt x="3342978" y="2048334"/>
                </a:lnTo>
                <a:lnTo>
                  <a:pt x="0" y="20483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>
            <a:outerShdw blurRad="50800" dist="38100" dir="5400000" algn="t" rotWithShape="0">
              <a:schemeClr val="accent2">
                <a:lumMod val="75000"/>
                <a:alpha val="40000"/>
              </a:schemeClr>
            </a:outerShdw>
          </a:effectLst>
        </p:spPr>
      </p:sp>
      <p:sp>
        <p:nvSpPr>
          <p:cNvPr id="13" name="TextBox 13"/>
          <p:cNvSpPr txBox="1"/>
          <p:nvPr/>
        </p:nvSpPr>
        <p:spPr>
          <a:xfrm>
            <a:off x="7303308" y="2509784"/>
            <a:ext cx="10101506" cy="6247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Use Strong Passwords.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2. Avoid Clicking Unknown Links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Protect Personal Information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Use Secure Websites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5. Keep Devices Updated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r>
              <a:rPr lang="en-US" sz="2912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Verify Information Before Sharing</a:t>
            </a: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843"/>
              </a:lnSpc>
            </a:pPr>
            <a:endParaRPr lang="en-US" sz="2912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-1235136" y="3469636"/>
            <a:ext cx="9315960" cy="2111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215"/>
              </a:lnSpc>
            </a:pPr>
            <a:r>
              <a:rPr lang="en-US" sz="8000" dirty="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             SAFE INTERNET PRACTICES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1863419" y="5205165"/>
            <a:ext cx="9214116" cy="3928579"/>
            <a:chOff x="0" y="0"/>
            <a:chExt cx="2426763" cy="10346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426763" cy="1034688"/>
            </a:xfrm>
            <a:custGeom>
              <a:avLst/>
              <a:gdLst/>
              <a:ahLst/>
              <a:cxnLst/>
              <a:rect l="l" t="t" r="r" b="b"/>
              <a:pathLst>
                <a:path w="2426763" h="1034688">
                  <a:moveTo>
                    <a:pt x="0" y="0"/>
                  </a:moveTo>
                  <a:lnTo>
                    <a:pt x="2426763" y="0"/>
                  </a:lnTo>
                  <a:lnTo>
                    <a:pt x="2426763" y="1034688"/>
                  </a:lnTo>
                  <a:lnTo>
                    <a:pt x="0" y="1034688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426763" cy="1072787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73217" y="4911117"/>
            <a:ext cx="9352718" cy="3928579"/>
            <a:chOff x="0" y="0"/>
            <a:chExt cx="2463267" cy="10346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63267" cy="1034688"/>
            </a:xfrm>
            <a:custGeom>
              <a:avLst/>
              <a:gdLst/>
              <a:ahLst/>
              <a:cxnLst/>
              <a:rect l="l" t="t" r="r" b="b"/>
              <a:pathLst>
                <a:path w="2463267" h="1034688">
                  <a:moveTo>
                    <a:pt x="0" y="0"/>
                  </a:moveTo>
                  <a:lnTo>
                    <a:pt x="2463267" y="0"/>
                  </a:lnTo>
                  <a:lnTo>
                    <a:pt x="2463267" y="1034688"/>
                  </a:lnTo>
                  <a:lnTo>
                    <a:pt x="0" y="1034688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463267" cy="1072787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4554200" y="4703964"/>
            <a:ext cx="2746475" cy="2526617"/>
          </a:xfrm>
          <a:custGeom>
            <a:avLst/>
            <a:gdLst/>
            <a:ahLst/>
            <a:cxnLst/>
            <a:rect l="l" t="t" r="r" b="b"/>
            <a:pathLst>
              <a:path w="3550526" h="3550526">
                <a:moveTo>
                  <a:pt x="0" y="0"/>
                </a:moveTo>
                <a:lnTo>
                  <a:pt x="3550526" y="0"/>
                </a:lnTo>
                <a:lnTo>
                  <a:pt x="3550526" y="3550526"/>
                </a:lnTo>
                <a:lnTo>
                  <a:pt x="0" y="35505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1501574" y="6914263"/>
            <a:ext cx="3747486" cy="3372737"/>
          </a:xfrm>
          <a:custGeom>
            <a:avLst/>
            <a:gdLst/>
            <a:ahLst/>
            <a:cxnLst/>
            <a:rect l="l" t="t" r="r" b="b"/>
            <a:pathLst>
              <a:path w="3747486" h="3372737">
                <a:moveTo>
                  <a:pt x="0" y="0"/>
                </a:moveTo>
                <a:lnTo>
                  <a:pt x="3747485" y="0"/>
                </a:lnTo>
                <a:lnTo>
                  <a:pt x="3747485" y="3372737"/>
                </a:lnTo>
                <a:lnTo>
                  <a:pt x="0" y="33727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3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186629" y="13618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biLevel thresh="75000"/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127667" y="5621740"/>
            <a:ext cx="8043818" cy="2469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9"/>
              </a:lnSpc>
            </a:pPr>
            <a:r>
              <a:rPr lang="en-US" sz="2976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 professional online presence means how a person represents themselves on the internet in an academic or career-focused manner. It reflects a person’s skills, interests, behavior, and seriousness toward education or work.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30823" y="2112976"/>
            <a:ext cx="8846712" cy="2113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5"/>
              </a:lnSpc>
            </a:pPr>
            <a:r>
              <a:rPr lang="en-US" sz="7231" dirty="0">
                <a:solidFill>
                  <a:srgbClr val="000000"/>
                </a:solidFill>
                <a:latin typeface="Retropix"/>
                <a:ea typeface="Retropix"/>
                <a:cs typeface="Retropix"/>
                <a:sym typeface="Retropix"/>
              </a:rPr>
              <a:t>PROFESSIONAL ONLINE PRESENCE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dirty="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79203" y="824352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biLevel thresh="75000"/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24345" y="6229880"/>
            <a:ext cx="2802223" cy="2802223"/>
          </a:xfrm>
          <a:custGeom>
            <a:avLst/>
            <a:gdLst/>
            <a:ahLst/>
            <a:cxnLst/>
            <a:rect l="l" t="t" r="r" b="b"/>
            <a:pathLst>
              <a:path w="2802223" h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243817" y="1877341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1. Use Professional Platforms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Create profiles on platforms like LinkedIn, GitHub, or Kaggle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your real name and correct academic details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525156" y="4242342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2. Share Educational and Skill-Based Content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Post about projects, learning achievements, or certifications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posting offensive, misleading, or inappropriate content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3817" y="6591406"/>
            <a:ext cx="10290567" cy="2745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3. Communicate Respectfully Online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polite language in messages, comments, and emails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slang or informal tone in professional communication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algn="ctr">
              <a:lnSpc>
                <a:spcPts val="3563"/>
              </a:lnSpc>
            </a:pPr>
            <a:endParaRPr lang="en-US" sz="2699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3845024" y="-5454452"/>
            <a:ext cx="10597952" cy="21195905"/>
          </a:xfrm>
          <a:custGeom>
            <a:avLst/>
            <a:gdLst/>
            <a:ahLst/>
            <a:cxnLst/>
            <a:rect l="l" t="t" r="r" b="b"/>
            <a:pathLst>
              <a:path w="10597952" h="21195905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</p:sp>
      <p:grpSp>
        <p:nvGrpSpPr>
          <p:cNvPr id="3" name="Group 3"/>
          <p:cNvGrpSpPr/>
          <p:nvPr/>
        </p:nvGrpSpPr>
        <p:grpSpPr>
          <a:xfrm>
            <a:off x="2571060" y="1716209"/>
            <a:ext cx="13776863" cy="7512553"/>
            <a:chOff x="0" y="0"/>
            <a:chExt cx="3628474" cy="197861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solidFill>
              <a:srgbClr val="000000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243817" y="1387224"/>
            <a:ext cx="13776863" cy="7512553"/>
            <a:chOff x="0" y="0"/>
            <a:chExt cx="3628474" cy="197861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28474" cy="1978615"/>
            </a:xfrm>
            <a:custGeom>
              <a:avLst/>
              <a:gdLst/>
              <a:ahLst/>
              <a:cxnLst/>
              <a:rect l="l" t="t" r="r" b="b"/>
              <a:pathLst>
                <a:path w="3628474" h="1978615">
                  <a:moveTo>
                    <a:pt x="0" y="0"/>
                  </a:moveTo>
                  <a:lnTo>
                    <a:pt x="3628474" y="0"/>
                  </a:lnTo>
                  <a:lnTo>
                    <a:pt x="3628474" y="1978615"/>
                  </a:lnTo>
                  <a:lnTo>
                    <a:pt x="0" y="1978615"/>
                  </a:lnTo>
                  <a:close/>
                </a:path>
              </a:pathLst>
            </a:cu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628474" cy="2016715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79203" y="824352"/>
            <a:ext cx="1783714" cy="1783714"/>
          </a:xfrm>
          <a:custGeom>
            <a:avLst/>
            <a:gdLst/>
            <a:ahLst/>
            <a:cxnLst/>
            <a:rect l="l" t="t" r="r" b="b"/>
            <a:pathLst>
              <a:path w="1783714" h="1783714">
                <a:moveTo>
                  <a:pt x="0" y="0"/>
                </a:moveTo>
                <a:lnTo>
                  <a:pt x="1783714" y="0"/>
                </a:lnTo>
                <a:lnTo>
                  <a:pt x="1783714" y="1783714"/>
                </a:lnTo>
                <a:lnTo>
                  <a:pt x="0" y="17837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4524345" y="6229880"/>
            <a:ext cx="2802223" cy="2802223"/>
          </a:xfrm>
          <a:custGeom>
            <a:avLst/>
            <a:gdLst/>
            <a:ahLst/>
            <a:cxnLst/>
            <a:rect l="l" t="t" r="r" b="b"/>
            <a:pathLst>
              <a:path w="2802223" h="2802223">
                <a:moveTo>
                  <a:pt x="0" y="0"/>
                </a:moveTo>
                <a:lnTo>
                  <a:pt x="2802223" y="0"/>
                </a:lnTo>
                <a:lnTo>
                  <a:pt x="2802223" y="2802223"/>
                </a:lnTo>
                <a:lnTo>
                  <a:pt x="0" y="28022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2353550" y="1706908"/>
            <a:ext cx="11113566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4. Maintain a Professional Profile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Use a simple and decent profile photo (optional)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Write a short, clear bio about your academic interests and goals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34889" y="4009562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5. Be Careful About Digital Footprints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Everything posted online can be seen later by teachers or employers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Review old posts and remove anything unprofessional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43817" y="6729833"/>
            <a:ext cx="10290567" cy="1822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3"/>
              </a:lnSpc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6. Follow Ethical Online Behavior</a:t>
            </a:r>
          </a:p>
          <a:p>
            <a:pPr algn="ctr">
              <a:lnSpc>
                <a:spcPts val="3563"/>
              </a:lnSpc>
            </a:pPr>
            <a:endParaRPr lang="en-US" sz="2699" u="sng" dirty="0">
              <a:solidFill>
                <a:srgbClr val="FFFFFF"/>
              </a:solidFill>
              <a:latin typeface="Inter"/>
              <a:ea typeface="Inter"/>
              <a:cs typeface="Inter"/>
              <a:sym typeface="Inter"/>
            </a:endParaRP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Give credit to others’ work</a:t>
            </a:r>
          </a:p>
          <a:p>
            <a:pPr marL="582804" lvl="1" indent="-291402" algn="ctr">
              <a:lnSpc>
                <a:spcPts val="3563"/>
              </a:lnSpc>
              <a:buFont typeface="Arial"/>
              <a:buChar char="•"/>
            </a:pPr>
            <a:r>
              <a:rPr lang="en-US" sz="2699" u="sng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Avoid plagiarism and fake information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 rot="-5400000">
            <a:off x="3845024" y="-5454452"/>
            <a:ext cx="10597952" cy="21195905"/>
          </a:xfrm>
          <a:custGeom>
            <a:rect b="b" l="l" r="r" t="t"/>
            <a:pathLst>
              <a:path extrusionOk="0" h="21195905" w="10597952">
                <a:moveTo>
                  <a:pt x="0" y="0"/>
                </a:moveTo>
                <a:lnTo>
                  <a:pt x="10597952" y="0"/>
                </a:lnTo>
                <a:lnTo>
                  <a:pt x="10597952" y="21195904"/>
                </a:lnTo>
                <a:lnTo>
                  <a:pt x="0" y="211959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50"/>
              </a:srgbClr>
            </a:outerShdw>
          </a:effectLst>
        </p:spPr>
      </p:sp>
      <p:grpSp>
        <p:nvGrpSpPr>
          <p:cNvPr id="48" name="Google Shape;48;p1"/>
          <p:cNvGrpSpPr/>
          <p:nvPr/>
        </p:nvGrpSpPr>
        <p:grpSpPr>
          <a:xfrm>
            <a:off x="8652819" y="2043388"/>
            <a:ext cx="7695557" cy="7028138"/>
            <a:chOff x="0" y="-38100"/>
            <a:chExt cx="2026800" cy="1851020"/>
          </a:xfrm>
        </p:grpSpPr>
        <p:sp>
          <p:nvSpPr>
            <p:cNvPr id="49" name="Google Shape;49;p1"/>
            <p:cNvSpPr/>
            <p:nvPr/>
          </p:nvSpPr>
          <p:spPr>
            <a:xfrm>
              <a:off x="0" y="0"/>
              <a:ext cx="2026694" cy="1812920"/>
            </a:xfrm>
            <a:custGeom>
              <a:rect b="b" l="l" r="r" t="t"/>
              <a:pathLst>
                <a:path extrusionOk="0" h="1812920" w="2026694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solidFill>
              <a:srgbClr val="000000"/>
            </a:solidFill>
            <a:ln cap="sq" cmpd="sng" w="762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50" name="Google Shape;50;p1"/>
            <p:cNvSpPr txBox="1"/>
            <p:nvPr/>
          </p:nvSpPr>
          <p:spPr>
            <a:xfrm>
              <a:off x="0" y="-38100"/>
              <a:ext cx="2026800" cy="185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" name="Google Shape;51;p1"/>
          <p:cNvGrpSpPr/>
          <p:nvPr/>
        </p:nvGrpSpPr>
        <p:grpSpPr>
          <a:xfrm>
            <a:off x="8652819" y="2188049"/>
            <a:ext cx="7695557" cy="7028138"/>
            <a:chOff x="0" y="-38100"/>
            <a:chExt cx="2026800" cy="1851020"/>
          </a:xfrm>
        </p:grpSpPr>
        <p:sp>
          <p:nvSpPr>
            <p:cNvPr id="52" name="Google Shape;52;p1"/>
            <p:cNvSpPr/>
            <p:nvPr/>
          </p:nvSpPr>
          <p:spPr>
            <a:xfrm>
              <a:off x="0" y="0"/>
              <a:ext cx="2026694" cy="1812920"/>
            </a:xfrm>
            <a:custGeom>
              <a:rect b="b" l="l" r="r" t="t"/>
              <a:pathLst>
                <a:path extrusionOk="0" h="1812920" w="2026694">
                  <a:moveTo>
                    <a:pt x="0" y="0"/>
                  </a:moveTo>
                  <a:lnTo>
                    <a:pt x="2026694" y="0"/>
                  </a:lnTo>
                  <a:lnTo>
                    <a:pt x="2026694" y="1812920"/>
                  </a:lnTo>
                  <a:lnTo>
                    <a:pt x="0" y="1812920"/>
                  </a:lnTo>
                  <a:close/>
                </a:path>
              </a:pathLst>
            </a:custGeom>
            <a:gradFill>
              <a:gsLst>
                <a:gs pos="0">
                  <a:srgbClr val="55416D"/>
                </a:gs>
                <a:gs pos="48000">
                  <a:srgbClr val="8268A4"/>
                </a:gs>
                <a:gs pos="100000">
                  <a:srgbClr val="B2A0C7"/>
                </a:gs>
              </a:gsLst>
              <a:lin ang="16200038" scaled="0"/>
            </a:gradFill>
            <a:ln>
              <a:noFill/>
            </a:ln>
          </p:spPr>
        </p:sp>
        <p:sp>
          <p:nvSpPr>
            <p:cNvPr id="53" name="Google Shape;53;p1"/>
            <p:cNvSpPr txBox="1"/>
            <p:nvPr/>
          </p:nvSpPr>
          <p:spPr>
            <a:xfrm>
              <a:off x="0" y="-38100"/>
              <a:ext cx="2026800" cy="1851000"/>
            </a:xfrm>
            <a:prstGeom prst="rect">
              <a:avLst/>
            </a:prstGeom>
            <a:gradFill>
              <a:gsLst>
                <a:gs pos="0">
                  <a:srgbClr val="55416D"/>
                </a:gs>
                <a:gs pos="48000">
                  <a:srgbClr val="8268A4"/>
                </a:gs>
                <a:gs pos="100000">
                  <a:srgbClr val="B2A0C7"/>
                </a:gs>
              </a:gsLst>
              <a:lin ang="16200038" scaled="0"/>
            </a:gra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" name="Google Shape;54;p1"/>
          <p:cNvSpPr/>
          <p:nvPr/>
        </p:nvSpPr>
        <p:spPr>
          <a:xfrm>
            <a:off x="5813004" y="244422"/>
            <a:ext cx="2877290" cy="2877290"/>
          </a:xfrm>
          <a:custGeom>
            <a:rect b="b" l="l" r="r" t="t"/>
            <a:pathLst>
              <a:path extrusionOk="0" h="2877290" w="2877290">
                <a:moveTo>
                  <a:pt x="0" y="0"/>
                </a:moveTo>
                <a:lnTo>
                  <a:pt x="2877291" y="0"/>
                </a:lnTo>
                <a:lnTo>
                  <a:pt x="2877291" y="2877290"/>
                </a:lnTo>
                <a:lnTo>
                  <a:pt x="0" y="28772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1"/>
          <p:cNvSpPr/>
          <p:nvPr/>
        </p:nvSpPr>
        <p:spPr>
          <a:xfrm>
            <a:off x="462102" y="7460334"/>
            <a:ext cx="2631465" cy="2468793"/>
          </a:xfrm>
          <a:custGeom>
            <a:rect b="b" l="l" r="r" t="t"/>
            <a:pathLst>
              <a:path extrusionOk="0" h="2468793" w="2631465">
                <a:moveTo>
                  <a:pt x="0" y="0"/>
                </a:moveTo>
                <a:lnTo>
                  <a:pt x="2631465" y="0"/>
                </a:lnTo>
                <a:lnTo>
                  <a:pt x="2631465" y="2468793"/>
                </a:lnTo>
                <a:lnTo>
                  <a:pt x="0" y="24687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6" name="Google Shape;56;p1"/>
          <p:cNvSpPr txBox="1"/>
          <p:nvPr/>
        </p:nvSpPr>
        <p:spPr>
          <a:xfrm>
            <a:off x="88713" y="4341096"/>
            <a:ext cx="8235300" cy="20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7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  <p:sp>
        <p:nvSpPr>
          <p:cNvPr id="57" name="Google Shape;57;p1"/>
          <p:cNvSpPr txBox="1"/>
          <p:nvPr/>
        </p:nvSpPr>
        <p:spPr>
          <a:xfrm>
            <a:off x="0" y="4091354"/>
            <a:ext cx="182880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8690300" y="2188097"/>
            <a:ext cx="18288000" cy="6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def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KESHAV HARDAINIYA 25BET10008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mv="urn:schemas-microsoft-com:mac:vml">
  <p:tag name="may_ignore_ucw" val="true"/>
  <p:tag name="ppt/slides/slide10.xml" val="2791395576"/>
  <p:tag name="ppt/slides/slide1.xml" val="1183508540"/>
  <p:tag name="ppt/slides/slide2.xml" val="3272965496"/>
  <p:tag name="ppt/slides/slide3.xml" val="3240325784"/>
  <p:tag name="ppt/slides/slide4.xml" val="3192466546"/>
  <p:tag name="ppt/slides/slide5.xml" val="1270711694"/>
  <p:tag name="ppt/slides/slide6.xml" val="1706626204"/>
  <p:tag name="ppt/slides/slide7.xml" val="2014439413"/>
  <p:tag name="ppt/slides/slide8.xml" val="4206938038"/>
  <p:tag name="ppt/slides/slide9.xml" val="3045057326"/>
  <p:tag name="ppt/slideMasters/slideMaster1.xml" val="14477850"/>
  <p:tag name="ppt/slideLayouts/slideLayout1.xml" val="2084236185"/>
  <p:tag name="ppt/slideLayouts/slideLayout2.xml" val="3158677511"/>
  <p:tag name="ppt/slideLayouts/slideLayout3.xml" val="2836482008"/>
  <p:tag name="ppt/slideLayouts/slideLayout4.xml" val="367675492"/>
  <p:tag name="ppt/slideLayouts/slideLayout5.xml" val="2749736824"/>
  <p:tag name="ppt/slideLayouts/slideLayout6.xml" val="3694055877"/>
  <p:tag name="ppt/slideLayouts/slideLayout7.xml" val="101174283"/>
  <p:tag name="ppt/slideLayouts/slideLayout8.xml" val="1235958116"/>
  <p:tag name="ppt/slideLayouts/slideLayout9.xml" val="1576032114"/>
  <p:tag name="ppt/slideLayouts/slideLayout10.xml" val="3595350487"/>
  <p:tag name="ppt/slideLayouts/slideLayout11.xml" val="1236483988"/>
  <p:tag name="ppt/theme/theme1.xml" val="2451501403"/>
  <p:tag name="ppt/media/image1.png" val="354076987"/>
  <p:tag name="ppt/media/image2.png" val="2396879305"/>
  <p:tag name="ppt/media/image3.png" val="3201006405"/>
  <p:tag name="ppt/media/image4.png" val="430931088"/>
  <p:tag name="ppt/media/hdphoto1.wdp" val="2330928478"/>
  <p:tag name="ppt/media/image5.png" val="2745007340"/>
  <p:tag name="ppt/media/image6.png" val="2991793855"/>
  <p:tag name="ppt/media/image18.png" val="3055324959"/>
  <p:tag name="ppt/media/image10.png" val="4254343767"/>
  <p:tag name="ppt/media/image8.png" val="1530954525"/>
  <p:tag name="ppt/media/image11.png" val="750190"/>
  <p:tag name="ppt/media/image9.png" val="542132284"/>
  <p:tag name="ppt/media/image12.png" val="836667902"/>
  <p:tag name="ppt/media/image13.png" val="2410052260"/>
  <p:tag name="ppt/media/image7.png" val="890644741"/>
  <p:tag name="ppt/media/image14.png" val="3986907730"/>
  <p:tag name="ppt/media/image15.png" val="3318902776"/>
  <p:tag name="ppt/media/image16.png" val="879238138"/>
  <p:tag name="ppt/media/image17.png" val="1610426647"/>
  <p:tag name="ppt/media/image19.png" val="235645643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